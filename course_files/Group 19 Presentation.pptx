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ed Hat Display SemiBold"/>
      <p:regular r:id="rId16"/>
      <p:bold r:id="rId17"/>
      <p:italic r:id="rId18"/>
      <p:boldItalic r:id="rId19"/>
    </p:embeddedFont>
    <p:embeddedFont>
      <p:font typeface="Red Hat Display Medium"/>
      <p:regular r:id="rId20"/>
      <p:bold r:id="rId21"/>
      <p:italic r:id="rId22"/>
      <p:boldItalic r:id="rId23"/>
    </p:embeddedFont>
    <p:embeddedFont>
      <p:font typeface="Red Hat Display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edHatDisplayMedium-regular.fntdata"/><Relationship Id="rId22" Type="http://schemas.openxmlformats.org/officeDocument/2006/relationships/font" Target="fonts/RedHatDisplayMedium-italic.fntdata"/><Relationship Id="rId21" Type="http://schemas.openxmlformats.org/officeDocument/2006/relationships/font" Target="fonts/RedHatDisplayMedium-bold.fntdata"/><Relationship Id="rId24" Type="http://schemas.openxmlformats.org/officeDocument/2006/relationships/font" Target="fonts/RedHatDisplay-regular.fntdata"/><Relationship Id="rId23" Type="http://schemas.openxmlformats.org/officeDocument/2006/relationships/font" Target="fonts/RedHatDisplay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edHatDisplay-italic.fntdata"/><Relationship Id="rId25" Type="http://schemas.openxmlformats.org/officeDocument/2006/relationships/font" Target="fonts/RedHatDisplay-bold.fntdata"/><Relationship Id="rId27" Type="http://schemas.openxmlformats.org/officeDocument/2006/relationships/font" Target="fonts/RedHatDispl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edHatDisplaySemiBold-bold.fntdata"/><Relationship Id="rId16" Type="http://schemas.openxmlformats.org/officeDocument/2006/relationships/font" Target="fonts/RedHatDisplaySemiBold-regular.fntdata"/><Relationship Id="rId19" Type="http://schemas.openxmlformats.org/officeDocument/2006/relationships/font" Target="fonts/RedHatDisplaySemiBold-boldItalic.fntdata"/><Relationship Id="rId18" Type="http://schemas.openxmlformats.org/officeDocument/2006/relationships/font" Target="fonts/RedHatDisplay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d989b88a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d989b88a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d99ae955f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d99ae955f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d989b88a15_0_1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d989b88a15_0_1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d989b88a1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d989b88a1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d9c154bb6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d9c154bb6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d989b88a15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d989b88a1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d99ae955f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d99ae955f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d9c154bb6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d9c154bb6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Lastly, we did put together an evaluation pipeline to see how our graph measures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 deckbench benchmark, which is a collection of research paper, and the human made slide presentation generated from that that paper as a reference.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measure how well the </a:t>
            </a:r>
            <a:r>
              <a:rPr lang="en"/>
              <a:t>presentation</a:t>
            </a:r>
            <a:r>
              <a:rPr lang="en"/>
              <a:t> performed as a whole deck and on slide by slide level, and with or without reference to the human made deck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Overall, the trong signals was that our graph as a whole was very consistent, it has good transitions and coherence, and it stayed true to the input document thanks to the RAG pipeline and critics agent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less positive signals came from the </a:t>
            </a:r>
            <a:r>
              <a:rPr lang="en"/>
              <a:t>individual</a:t>
            </a:r>
            <a:r>
              <a:rPr lang="en"/>
              <a:t> slide level. The benchmark use Hungarian matching algorithm to match output slide to its most semantically similar slide in the reference bench, and by itself we stray a bit from r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d989b88a15_0_1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d989b88a15_0_1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d9c154bb6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d9c154bb6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" name="Google Shape;26;p2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" name="Google Shape;27;p2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5" name="Google Shape;45;p3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6" name="Google Shape;46;p3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48" name="Google Shape;48;p3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3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0" name="Google Shape;50;p3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3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2" name="Google Shape;52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8" name="Google Shape;78;p4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5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82" name="Google Shape;82;p5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54" name="Google Shape;154;p5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155" name="Google Shape;155;p5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79" name="Google Shape;179;p5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0" name="Google Shape;180;p5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84" name="Google Shape;184;p6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6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6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7" name="Google Shape;187;p6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6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6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0" name="Google Shape;190;p6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1" name="Google Shape;191;p6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2" name="Google Shape;192;p6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3" name="Google Shape;193;p6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4" name="Google Shape;194;p6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5" name="Google Shape;195;p6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6" name="Google Shape;196;p6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7" name="Google Shape;197;p6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8" name="Google Shape;198;p6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9" name="Google Shape;199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02" name="Google Shape;202;p7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6" name="Google Shape;206;p7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7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7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7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7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7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" name="Google Shape;212;p7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" name="Google Shape;213;p7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" name="Google Shape;214;p7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" name="Google Shape;215;p7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7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7" name="Google Shape;217;p7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8" name="Google Shape;218;p7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9" name="Google Shape;219;p7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7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21" name="Google Shape;221;p7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22" name="Google Shape;222;p7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23" name="Google Shape;223;p7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4" name="Google Shape;224;p7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25" name="Google Shape;225;p7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26" name="Google Shape;226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9" name="Google Shape;229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9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3" name="Google Shape;233;p9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4" name="Google Shape;234;p9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5" name="Google Shape;235;p9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9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7" name="Google Shape;237;p9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8" name="Google Shape;238;p9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9" name="Google Shape;239;p9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40" name="Google Shape;240;p9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9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42" name="Google Shape;242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45" name="Google Shape;245;p10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46" name="Google Shape;246;p10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47" name="Google Shape;247;p10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48" name="Google Shape;248;p10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9" name="Google Shape;249;p10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50" name="Google Shape;250;p10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0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52" name="Google Shape;252;p10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53" name="Google Shape;253;p10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54" name="Google Shape;254;p10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5" name="Google Shape;255;p10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10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1"/>
          <p:cNvPicPr preferRelativeResize="0"/>
          <p:nvPr/>
        </p:nvPicPr>
        <p:blipFill rotWithShape="1">
          <a:blip r:embed="rId2">
            <a:alphaModFix/>
          </a:blip>
          <a:srcRect b="7467" l="0" r="17932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1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61" name="Google Shape;261;p11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62" name="Google Shape;262;p11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63" name="Google Shape;263;p11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64" name="Google Shape;264;p11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65" name="Google Shape;265;p11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66" name="Google Shape;266;p11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67" name="Google Shape;267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12"/>
          <p:cNvPicPr preferRelativeResize="0"/>
          <p:nvPr/>
        </p:nvPicPr>
        <p:blipFill rotWithShape="1">
          <a:blip r:embed="rId2">
            <a:alphaModFix/>
          </a:blip>
          <a:srcRect b="15068" l="14900" r="18071" t="15236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2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71" name="Google Shape;271;p12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72" name="Google Shape;272;p12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12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75" name="Google Shape;275;p12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6" name="Google Shape;276;p12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77" name="Google Shape;277;p12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8" name="Google Shape;278;p12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79" name="Google Shape;279;p12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80" name="Google Shape;280;p12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1" name="Google Shape;281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13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85" name="Google Shape;285;p13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86" name="Google Shape;286;p13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87" name="Google Shape;287;p13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91" name="Google Shape;291;p13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92" name="Google Shape;292;p13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93" name="Google Shape;293;p13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94" name="Google Shape;29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97" name="Google Shape;297;p14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8" name="Google Shape;298;p14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14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4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1" name="Google Shape;301;p14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02" name="Google Shape;302;p14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03" name="Google Shape;303;p14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04" name="Google Shape;304;p14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05" name="Google Shape;305;p14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06" name="Google Shape;306;p14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7" name="Google Shape;307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10" name="Google Shape;310;p15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3" name="Google Shape;313;p15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4" name="Google Shape;314;p15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5" name="Google Shape;315;p15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6" name="Google Shape;316;p15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7" name="Google Shape;317;p15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8" name="Google Shape;318;p15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9" name="Google Shape;319;p15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0" name="Google Shape;320;p15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1" name="Google Shape;321;p15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2" name="Google Shape;322;p15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3" name="Google Shape;323;p15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4" name="Google Shape;324;p15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5" name="Google Shape;325;p15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6" name="Google Shape;326;p15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7" name="Google Shape;327;p15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8" name="Google Shape;328;p15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9" name="Google Shape;329;p15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30" name="Google Shape;330;p15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31" name="Google Shape;331;p15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32" name="Google Shape;332;p15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33" name="Google Shape;333;p15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34" name="Google Shape;334;p15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35" name="Google Shape;335;p15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36" name="Google Shape;336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39" name="Google Shape;339;p16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0" name="Google Shape;340;p1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1" name="Google Shape;341;p16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2" name="Google Shape;342;p16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3" name="Google Shape;343;p16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4" name="Google Shape;344;p16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5" name="Google Shape;345;p16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6" name="Google Shape;346;p16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47" name="Google Shape;347;p16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48" name="Google Shape;348;p16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49" name="Google Shape;349;p16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50" name="Google Shape;350;p16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51" name="Google Shape;351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7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54" name="Google Shape;354;p17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1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6" name="Google Shape;356;p17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360" name="Google Shape;360;p17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361" name="Google Shape;361;p1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9" name="Google Shape;369;p1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70" name="Google Shape;370;p1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71" name="Google Shape;371;p1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73" name="Google Shape;373;p1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74" name="Google Shape;374;p1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75" name="Google Shape;375;p1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76" name="Google Shape;376;p1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77" name="Google Shape;377;p1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78" name="Google Shape;378;p1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79" name="Google Shape;379;p1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80" name="Google Shape;380;p1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83" name="Google Shape;383;p1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385" name="Google Shape;385;p17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86" name="Google Shape;386;p17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87" name="Google Shape;387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90" name="Google Shape;390;p1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1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2" name="Google Shape;392;p18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96" name="Google Shape;396;p18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97" name="Google Shape;397;p18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98" name="Google Shape;398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1" name="Google Shape;401;p1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402" name="Google Shape;402;p1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4" name="Google Shape;404;p19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5" name="Google Shape;405;p19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19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7" name="Google Shape;407;p19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408" name="Google Shape;408;p19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409" name="Google Shape;409;p19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410" name="Google Shape;410;p19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411" name="Google Shape;411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3" name="Google Shape;413;p20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20"/>
          <p:cNvCxnSpPr>
            <a:stCxn id="415" idx="1"/>
            <a:endCxn id="416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20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20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20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9" name="Google Shape;419;p20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20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20" name="Google Shape;420;p20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20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2" name="Google Shape;422;p20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3" name="Google Shape;423;p20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6" name="Google Shape;426;p21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21"/>
          <p:cNvCxnSpPr>
            <a:stCxn id="428" idx="1"/>
            <a:endCxn id="429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21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21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21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32" name="Google Shape;432;p21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" name="Google Shape;429;p21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33" name="Google Shape;433;p21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21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5" name="Google Shape;435;p21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6" name="Google Shape;436;p21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7" name="Google Shape;43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2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0" name="Google Shape;440;p22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1" name="Google Shape;441;p22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3" name="Google Shape;443;p22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4" name="Google Shape;444;p22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5" name="Google Shape;445;p22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6" name="Google Shape;446;p22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7" name="Google Shape;447;p22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8" name="Google Shape;448;p22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9" name="Google Shape;449;p22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0" name="Google Shape;450;p22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51" name="Google Shape;451;p22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2" name="Google Shape;452;p22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53" name="Google Shape;453;p22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4" name="Google Shape;454;p22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55" name="Google Shape;455;p22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6" name="Google Shape;456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3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59" name="Google Shape;459;p23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0" name="Google Shape;460;p23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1" name="Google Shape;461;p23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2" name="Google Shape;462;p23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3" name="Google Shape;463;p23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4" name="Google Shape;464;p23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65" name="Google Shape;465;p23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66" name="Google Shape;466;p23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67" name="Google Shape;467;p23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68" name="Google Shape;468;p23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69" name="Google Shape;469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4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72" name="Google Shape;472;p24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73" name="Google Shape;473;p24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74" name="Google Shape;474;p24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75" name="Google Shape;475;p24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76" name="Google Shape;476;p24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77" name="Google Shape;477;p24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78" name="Google Shape;478;p24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79" name="Google Shape;479;p24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80" name="Google Shape;480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3" name="Google Shape;483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86" name="Google Shape;48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7" name="Google Shape;487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90" name="Google Shape;490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1" name="Google Shape;491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2" name="Google Shape;49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95" name="Google Shape;495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6" name="Google Shape;496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99" name="Google Shape;499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2" name="Google Shape;502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3" name="Google Shape;503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4" name="Google Shape;504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  <p:sp>
        <p:nvSpPr>
          <p:cNvPr id="507" name="Google Shape;507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0" name="Google Shape;510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11" name="Google Shape;511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6" name="Google Shape;516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7" name="Google Shape;517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1" name="Google Shape;521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2" name="Google Shape;522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23" name="Google Shape;523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4" name="Google Shape;524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5" name="Google Shape;525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8" name="Google Shape;528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29" name="Google Shape;529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34" name="Google Shape;53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37" name="Google Shape;537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38" name="Google Shape;538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39" name="Google Shape;539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40" name="Google Shape;540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1" name="Google Shape;541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2" name="Google Shape;542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3" name="Google Shape;543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4" name="Google Shape;544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5" name="Google Shape;545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48" name="Google Shape;548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5" name="Google Shape;55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56" name="Google Shape;556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7" name="Google Shape;557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8" name="Google Shape;558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1" name="Google Shape;561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4" name="Google Shape;564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6" name="Google Shape;56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67" name="Google Shape;567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8" name="Google Shape;568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9" name="Google Shape;569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70" name="Google Shape;570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77" name="Google Shape;577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78" name="Google Shape;578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79" name="Google Shape;579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1" name="Google Shape;581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82" name="Google Shape;582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3" name="Google Shape;583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cs.ai" TargetMode="External"/><Relationship Id="rId4" Type="http://schemas.openxmlformats.org/officeDocument/2006/relationships/hyperlink" Target="http://cs.hc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3"/>
          <p:cNvSpPr txBox="1"/>
          <p:nvPr>
            <p:ph type="title"/>
          </p:nvPr>
        </p:nvSpPr>
        <p:spPr>
          <a:xfrm>
            <a:off x="259050" y="2207719"/>
            <a:ext cx="5760900" cy="2050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Synthesis Presentation Creator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91" name="Google Shape;591;p43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April 2026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2" name="Google Shape;592;p43"/>
          <p:cNvSpPr txBox="1"/>
          <p:nvPr/>
        </p:nvSpPr>
        <p:spPr>
          <a:xfrm>
            <a:off x="228600" y="4606768"/>
            <a:ext cx="29961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Group 19: Vien Nguyen and Sheng Rao</a:t>
            </a:r>
            <a:endParaRPr sz="12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3" name="Google Shape;593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4"/>
          <p:cNvSpPr txBox="1"/>
          <p:nvPr>
            <p:ph idx="2" type="body"/>
          </p:nvPr>
        </p:nvSpPr>
        <p:spPr>
          <a:xfrm>
            <a:off x="4938725" y="2039823"/>
            <a:ext cx="3838500" cy="8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Retrieval Augmented Generation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Dynamic model routing (LiteLLM)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Agent trace logging (LangFuse)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Actor / Critic Agentic Workflow (LangGraph)</a:t>
            </a:r>
            <a:endParaRPr/>
          </a:p>
        </p:txBody>
      </p:sp>
      <p:sp>
        <p:nvSpPr>
          <p:cNvPr id="599" name="Google Shape;599;p4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expensive AI inference cost and document intelligence</a:t>
            </a:r>
            <a:endParaRPr/>
          </a:p>
        </p:txBody>
      </p:sp>
      <p:sp>
        <p:nvSpPr>
          <p:cNvPr id="600" name="Google Shape;600;p44"/>
          <p:cNvSpPr txBox="1"/>
          <p:nvPr>
            <p:ph idx="4" type="body"/>
          </p:nvPr>
        </p:nvSpPr>
        <p:spPr>
          <a:xfrm>
            <a:off x="4938750" y="3808625"/>
            <a:ext cx="3838500" cy="8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S3 Cloud Storage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LlamaParse cloud PDF parsing</a:t>
            </a:r>
            <a:endParaRPr/>
          </a:p>
        </p:txBody>
      </p:sp>
      <p:sp>
        <p:nvSpPr>
          <p:cNvPr id="601" name="Google Shape;601;p4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</a:t>
            </a:r>
            <a:endParaRPr/>
          </a:p>
        </p:txBody>
      </p:sp>
      <p:sp>
        <p:nvSpPr>
          <p:cNvPr id="602" name="Google Shape;602;p4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something we would use ourselves</a:t>
            </a:r>
            <a:endParaRPr/>
          </a:p>
        </p:txBody>
      </p:sp>
      <p:sp>
        <p:nvSpPr>
          <p:cNvPr id="603" name="Google Shape;603;p4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AI concepts</a:t>
            </a:r>
            <a:endParaRPr/>
          </a:p>
        </p:txBody>
      </p:sp>
      <p:sp>
        <p:nvSpPr>
          <p:cNvPr id="604" name="Google Shape;604;p44"/>
          <p:cNvSpPr txBox="1"/>
          <p:nvPr>
            <p:ph idx="7" type="subTitle"/>
          </p:nvPr>
        </p:nvSpPr>
        <p:spPr>
          <a:xfrm>
            <a:off x="4938761" y="3243888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technologies</a:t>
            </a:r>
            <a:endParaRPr/>
          </a:p>
        </p:txBody>
      </p:sp>
      <p:sp>
        <p:nvSpPr>
          <p:cNvPr id="605" name="Google Shape;605;p4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Friendly</a:t>
            </a:r>
            <a:endParaRPr/>
          </a:p>
        </p:txBody>
      </p:sp>
      <p:sp>
        <p:nvSpPr>
          <p:cNvPr id="606" name="Google Shape;606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7" name="Google Shape;607;p44"/>
          <p:cNvSpPr txBox="1"/>
          <p:nvPr>
            <p:ph idx="3" type="body"/>
          </p:nvPr>
        </p:nvSpPr>
        <p:spPr>
          <a:xfrm>
            <a:off x="366750" y="203982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Academic Papers extremely relevant to students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Slide Presentations as Summary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5"/>
          <p:cNvSpPr txBox="1"/>
          <p:nvPr>
            <p:ph idx="2" type="body"/>
          </p:nvPr>
        </p:nvSpPr>
        <p:spPr>
          <a:xfrm>
            <a:off x="5202450" y="3653950"/>
            <a:ext cx="3354300" cy="14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Custom fine-tuned model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(DeepPresenter-9B)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Single Presenter agent iterates on slides</a:t>
            </a:r>
            <a:br>
              <a:rPr lang="en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AI image generation</a:t>
            </a:r>
            <a:br>
              <a:rPr lang="en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Output to HTML</a:t>
            </a:r>
            <a:endParaRPr sz="1200"/>
          </a:p>
        </p:txBody>
      </p:sp>
      <p:sp>
        <p:nvSpPr>
          <p:cNvPr id="613" name="Google Shape;613;p45"/>
          <p:cNvSpPr txBox="1"/>
          <p:nvPr>
            <p:ph type="title"/>
          </p:nvPr>
        </p:nvSpPr>
        <p:spPr>
          <a:xfrm>
            <a:off x="483175" y="450025"/>
            <a:ext cx="42549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 and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Limitations</a:t>
            </a:r>
            <a:endParaRPr/>
          </a:p>
        </p:txBody>
      </p:sp>
      <p:sp>
        <p:nvSpPr>
          <p:cNvPr id="614" name="Google Shape;614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5" name="Google Shape;615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Auto-Slides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(H. Zheng et al. Sep 2025)</a:t>
            </a:r>
            <a:endParaRPr/>
          </a:p>
        </p:txBody>
      </p:sp>
      <p:sp>
        <p:nvSpPr>
          <p:cNvPr id="616" name="Google Shape;616;p45"/>
          <p:cNvSpPr txBox="1"/>
          <p:nvPr>
            <p:ph idx="4" type="subTitle"/>
          </p:nvPr>
        </p:nvSpPr>
        <p:spPr>
          <a:xfrm>
            <a:off x="4738200" y="503425"/>
            <a:ext cx="41292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DeepPresenter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(Y. Yang et al. Feb 2026)</a:t>
            </a:r>
            <a:endParaRPr/>
          </a:p>
        </p:txBody>
      </p:sp>
      <p:sp>
        <p:nvSpPr>
          <p:cNvPr id="617" name="Google Shape;617;p45"/>
          <p:cNvSpPr txBox="1"/>
          <p:nvPr>
            <p:ph idx="2" type="body"/>
          </p:nvPr>
        </p:nvSpPr>
        <p:spPr>
          <a:xfrm>
            <a:off x="483150" y="3431725"/>
            <a:ext cx="3619800" cy="14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Local Marker AI model for PDF parsing</a:t>
            </a:r>
            <a:br>
              <a:rPr lang="en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Verification and Adjustment agents, but none for narrative coherence or layout</a:t>
            </a:r>
            <a:br>
              <a:rPr lang="en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No user input at the start, only at the end</a:t>
            </a:r>
            <a:br>
              <a:rPr lang="en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Output to Beamer/PDF</a:t>
            </a:r>
            <a:endParaRPr sz="1200"/>
          </a:p>
        </p:txBody>
      </p:sp>
      <p:pic>
        <p:nvPicPr>
          <p:cNvPr id="618" name="Google Shape;61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98" y="2177249"/>
            <a:ext cx="4129106" cy="125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4878" y="1208125"/>
            <a:ext cx="2389449" cy="251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6"/>
          <p:cNvSpPr txBox="1"/>
          <p:nvPr>
            <p:ph type="title"/>
          </p:nvPr>
        </p:nvSpPr>
        <p:spPr>
          <a:xfrm>
            <a:off x="228600" y="531775"/>
            <a:ext cx="5124300" cy="73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processing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25" name="Google Shape;625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6" name="Google Shape;62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63" y="1470762"/>
            <a:ext cx="5706277" cy="31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46"/>
          <p:cNvSpPr txBox="1"/>
          <p:nvPr>
            <p:ph idx="4294967295" type="body"/>
          </p:nvPr>
        </p:nvSpPr>
        <p:spPr>
          <a:xfrm>
            <a:off x="6242400" y="1270675"/>
            <a:ext cx="2673000" cy="165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Ingestion</a:t>
            </a:r>
            <a:endParaRPr sz="1200"/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Agentic processing with LlamaParse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Contextual retrieval (Anthropic idea)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Embedding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Storage</a:t>
            </a:r>
            <a:endParaRPr sz="1200"/>
          </a:p>
        </p:txBody>
      </p:sp>
      <p:sp>
        <p:nvSpPr>
          <p:cNvPr id="628" name="Google Shape;628;p46"/>
          <p:cNvSpPr txBox="1"/>
          <p:nvPr>
            <p:ph idx="4294967295" type="body"/>
          </p:nvPr>
        </p:nvSpPr>
        <p:spPr>
          <a:xfrm>
            <a:off x="6334150" y="3167950"/>
            <a:ext cx="2673000" cy="122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Retrieval:</a:t>
            </a:r>
            <a:endParaRPr sz="1200"/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Agent calls tool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Hybrid strategy with BM25 and Semantic Vector Search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Reciprocal Rank Fusion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7"/>
          <p:cNvSpPr txBox="1"/>
          <p:nvPr>
            <p:ph type="title"/>
          </p:nvPr>
        </p:nvSpPr>
        <p:spPr>
          <a:xfrm>
            <a:off x="228600" y="531775"/>
            <a:ext cx="5124300" cy="73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Visibility and up-time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34" name="Google Shape;634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5" name="Google Shape;635;p47"/>
          <p:cNvSpPr txBox="1"/>
          <p:nvPr>
            <p:ph idx="4294967295" type="body"/>
          </p:nvPr>
        </p:nvSpPr>
        <p:spPr>
          <a:xfrm>
            <a:off x="228600" y="1331325"/>
            <a:ext cx="2673000" cy="1441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Dynamic model routing with LiteLLM</a:t>
            </a:r>
            <a:endParaRPr sz="1200"/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Support multiple cloud Providers (Ollama, NVIDIA NIM, Gemini API, Azure, OpenRouter)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Layered reliability strategy</a:t>
            </a:r>
            <a:endParaRPr sz="1200"/>
          </a:p>
        </p:txBody>
      </p:sp>
      <p:sp>
        <p:nvSpPr>
          <p:cNvPr id="636" name="Google Shape;636;p47"/>
          <p:cNvSpPr txBox="1"/>
          <p:nvPr>
            <p:ph idx="4294967295" type="body"/>
          </p:nvPr>
        </p:nvSpPr>
        <p:spPr>
          <a:xfrm>
            <a:off x="228600" y="3109250"/>
            <a:ext cx="2673000" cy="8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LangFuse logging</a:t>
            </a:r>
            <a:endParaRPr sz="1200"/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Graph execution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Internal LLM call</a:t>
            </a:r>
            <a:endParaRPr sz="1200"/>
          </a:p>
        </p:txBody>
      </p:sp>
      <p:pic>
        <p:nvPicPr>
          <p:cNvPr id="637" name="Google Shape;63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5613" y="1331325"/>
            <a:ext cx="4828275" cy="215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8"/>
          <p:cNvSpPr txBox="1"/>
          <p:nvPr>
            <p:ph type="title"/>
          </p:nvPr>
        </p:nvSpPr>
        <p:spPr>
          <a:xfrm>
            <a:off x="317100" y="228600"/>
            <a:ext cx="4213200" cy="8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Graph Design</a:t>
            </a:r>
            <a:endParaRPr sz="3000"/>
          </a:p>
        </p:txBody>
      </p:sp>
      <p:sp>
        <p:nvSpPr>
          <p:cNvPr id="643" name="Google Shape;643;p48"/>
          <p:cNvSpPr txBox="1"/>
          <p:nvPr>
            <p:ph idx="1" type="body"/>
          </p:nvPr>
        </p:nvSpPr>
        <p:spPr>
          <a:xfrm>
            <a:off x="186750" y="1293850"/>
            <a:ext cx="4473900" cy="388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Start -&gt; Document Processing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Planner creates Presentation Plan and Slide Assignments</a:t>
            </a:r>
            <a:br>
              <a:rPr lang="en" sz="1200"/>
            </a:br>
            <a:r>
              <a:rPr lang="en" sz="1200"/>
              <a:t>from processed document and user query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Parallel fanout of Slide Assignments to Slide Writers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Fanout received by Supervisor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Supervisor starts cycle by starting parallel Critic review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Critic reviews received by Supervisor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Supervisor decides to accept, revise, or replan the deck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 sz="1200"/>
              <a:t>If Replan:  Restart the graph by going back to the </a:t>
            </a:r>
            <a:br>
              <a:rPr lang="en" sz="1200"/>
            </a:br>
            <a:r>
              <a:rPr lang="en" sz="1200"/>
              <a:t>Planner in Step 2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 sz="1200"/>
              <a:t>If Accept:  End cycle and export to Powerpoint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 sz="1200"/>
              <a:t>If Revise:  Send out parallel Slide Writers to rewrite specific slides.  </a:t>
            </a:r>
            <a:endParaRPr sz="1200"/>
          </a:p>
          <a:p>
            <a:pPr indent="45720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/>
              <a:t>After Slide Writers complete, start a new round of Critic reviews.</a:t>
            </a:r>
            <a:endParaRPr sz="1200"/>
          </a:p>
          <a:p>
            <a:pPr indent="457200" lvl="0" marL="9144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/>
              <a:t>After Critic reviews, go to Step 6, continuing the cycle.</a:t>
            </a:r>
            <a:endParaRPr sz="1200"/>
          </a:p>
        </p:txBody>
      </p:sp>
      <p:sp>
        <p:nvSpPr>
          <p:cNvPr id="644" name="Google Shape;644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5" name="Google Shape;64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4000" y="175538"/>
            <a:ext cx="4129800" cy="4792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Demonstration</a:t>
            </a:r>
            <a:endParaRPr/>
          </a:p>
        </p:txBody>
      </p:sp>
      <p:sp>
        <p:nvSpPr>
          <p:cNvPr id="651" name="Google Shape;651;p4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 is All You Need Paper</a:t>
            </a:r>
            <a:endParaRPr/>
          </a:p>
        </p:txBody>
      </p:sp>
      <p:sp>
        <p:nvSpPr>
          <p:cNvPr id="652" name="Google Shape;652;p4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Processing…</a:t>
            </a:r>
            <a:endParaRPr/>
          </a:p>
        </p:txBody>
      </p:sp>
      <p:sp>
        <p:nvSpPr>
          <p:cNvPr id="653" name="Google Shape;653;p4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Deck </a:t>
            </a:r>
            <a:br>
              <a:rPr lang="en"/>
            </a:br>
            <a:r>
              <a:rPr lang="en"/>
              <a:t>Final Output</a:t>
            </a:r>
            <a:endParaRPr/>
          </a:p>
        </p:txBody>
      </p:sp>
      <p:sp>
        <p:nvSpPr>
          <p:cNvPr id="654" name="Google Shape;654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5" name="Google Shape;655;p49" title="Transformers Collat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175" y="2114650"/>
            <a:ext cx="2455499" cy="3170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49" title="Slides Collat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4425" y="1978035"/>
            <a:ext cx="3116124" cy="2941227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49"/>
          <p:cNvSpPr/>
          <p:nvPr/>
        </p:nvSpPr>
        <p:spPr>
          <a:xfrm>
            <a:off x="2788950" y="3213450"/>
            <a:ext cx="548700" cy="47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8" name="Google Shape;658;p49"/>
          <p:cNvSpPr/>
          <p:nvPr/>
        </p:nvSpPr>
        <p:spPr>
          <a:xfrm>
            <a:off x="5465450" y="3213450"/>
            <a:ext cx="548700" cy="47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59" name="Google Shape;659;p49" title="terminal outpu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3775" y="1753850"/>
            <a:ext cx="1955543" cy="3389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665" name="Google Shape;665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6" name="Google Shape;666;p50"/>
          <p:cNvSpPr txBox="1"/>
          <p:nvPr/>
        </p:nvSpPr>
        <p:spPr>
          <a:xfrm>
            <a:off x="0" y="1146825"/>
            <a:ext cx="4020000" cy="362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Positive signals:</a:t>
            </a:r>
            <a:endParaRPr b="1" sz="12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     - deck_faithfulness = 0.7771</a:t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     - deck_fidelity = 0.7616</a:t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     The deck by itself was reasonably well and close to the benchmark reference</a:t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 </a:t>
            </a:r>
            <a:r>
              <a:rPr b="1" lang="en" sz="12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Improvement signals:</a:t>
            </a:r>
            <a:endParaRPr b="1" sz="12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     - slide_text_similarity = 0.1441</a:t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     - slide_semantic_similarity = 0.3869</a:t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     - transition_similarity = 0.2928</a:t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     - dtw_sequence_similarity = 0.0659</a:t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    Slide-level content did not match well with reference slide</a:t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67" name="Google Shape;667;p50"/>
          <p:cNvPicPr preferRelativeResize="0"/>
          <p:nvPr/>
        </p:nvPicPr>
        <p:blipFill rotWithShape="1">
          <a:blip r:embed="rId3">
            <a:alphaModFix/>
          </a:blip>
          <a:srcRect b="17634" l="8307" r="0" t="0"/>
          <a:stretch/>
        </p:blipFill>
        <p:spPr>
          <a:xfrm>
            <a:off x="4589725" y="228596"/>
            <a:ext cx="3328025" cy="2445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9850" y="2835348"/>
            <a:ext cx="5047801" cy="1914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1"/>
          <p:cNvSpPr txBox="1"/>
          <p:nvPr>
            <p:ph idx="1" type="subTitle"/>
          </p:nvPr>
        </p:nvSpPr>
        <p:spPr>
          <a:xfrm>
            <a:off x="3957769" y="2505475"/>
            <a:ext cx="45990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Hao Zheng et al.  “</a:t>
            </a:r>
            <a:r>
              <a:rPr lang="en"/>
              <a:t>DeepPresenter: Environment-Grounded Reflection for Agentic Presentation Generation.” arXiv:2602.22839v3 [</a:t>
            </a:r>
            <a:r>
              <a:rPr lang="en" u="sng">
                <a:solidFill>
                  <a:schemeClr val="hlink"/>
                </a:solidFill>
                <a:hlinkClick r:id="rId3"/>
              </a:rPr>
              <a:t>cs.AI</a:t>
            </a:r>
            <a:r>
              <a:rPr lang="en"/>
              <a:t>], 2026.</a:t>
            </a:r>
            <a:endParaRPr/>
          </a:p>
        </p:txBody>
      </p:sp>
      <p:sp>
        <p:nvSpPr>
          <p:cNvPr id="674" name="Google Shape;674;p51"/>
          <p:cNvSpPr txBox="1"/>
          <p:nvPr>
            <p:ph type="title"/>
          </p:nvPr>
        </p:nvSpPr>
        <p:spPr>
          <a:xfrm>
            <a:off x="1392601" y="836575"/>
            <a:ext cx="3205200" cy="73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675" name="Google Shape;675;p51"/>
          <p:cNvSpPr txBox="1"/>
          <p:nvPr>
            <p:ph idx="2" type="subTitle"/>
          </p:nvPr>
        </p:nvSpPr>
        <p:spPr>
          <a:xfrm>
            <a:off x="3957768" y="3537800"/>
            <a:ext cx="45990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Yuheng Yang et al.  “</a:t>
            </a:r>
            <a:r>
              <a:rPr lang="en"/>
              <a:t>Auto-Slides: An Interactive Multi-Agent System for Creating and Customizing Research Presentations.” arXiv:2509.11062v3 [</a:t>
            </a:r>
            <a:r>
              <a:rPr lang="en" u="sng">
                <a:solidFill>
                  <a:schemeClr val="hlink"/>
                </a:solidFill>
                <a:hlinkClick r:id="rId4"/>
              </a:rPr>
              <a:t>cs.HC</a:t>
            </a:r>
            <a:r>
              <a:rPr lang="en"/>
              <a:t>], 2025.</a:t>
            </a:r>
            <a:endParaRPr/>
          </a:p>
        </p:txBody>
      </p:sp>
      <p:sp>
        <p:nvSpPr>
          <p:cNvPr id="676" name="Google Shape;676;p51"/>
          <p:cNvSpPr txBox="1"/>
          <p:nvPr>
            <p:ph idx="3" type="subTitle"/>
          </p:nvPr>
        </p:nvSpPr>
        <p:spPr>
          <a:xfrm>
            <a:off x="1392610" y="4382225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Contributions</a:t>
            </a:r>
            <a:endParaRPr/>
          </a:p>
        </p:txBody>
      </p:sp>
      <p:sp>
        <p:nvSpPr>
          <p:cNvPr id="677" name="Google Shape;677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2"/>
          <p:cNvSpPr txBox="1"/>
          <p:nvPr>
            <p:ph type="title"/>
          </p:nvPr>
        </p:nvSpPr>
        <p:spPr>
          <a:xfrm>
            <a:off x="237750" y="781475"/>
            <a:ext cx="4371900" cy="206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Thank you</a:t>
            </a:r>
            <a:endParaRPr sz="5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Questions?</a:t>
            </a:r>
            <a:endParaRPr sz="3600"/>
          </a:p>
        </p:txBody>
      </p:sp>
      <p:sp>
        <p:nvSpPr>
          <p:cNvPr id="683" name="Google Shape;683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